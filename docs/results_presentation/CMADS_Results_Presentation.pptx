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142B4A"/>
                </a:solidFill>
              </a:rPr>
              <a:t>CMADS — Multi-Agent Systems for AI Clinical Decisioning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0972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0">
                <a:solidFill>
                  <a:srgbClr val="34495E"/>
                </a:solidFill>
              </a:rPr>
              <a:t>via Automation 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16A085"/>
                </a:solidFill>
              </a:rPr>
              <a:t>100-patient multi-level memory results  ·  doctor console  ·  literature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7F8C8D"/>
                </a:solidFill>
              </a:rPr>
              <a:t>Abdelrahman Mohamed Amin  ·  Supervisor: Dr. Shereen Moataz Afifi  ·  GUC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CMADS is</a:t>
            </a:r>
          </a:p>
          <a:p>
            <a:r>
              <a:rPr sz="1300">
                <a:solidFill>
                  <a:srgbClr val="ECF0F1"/>
                </a:solidFill>
              </a:rPr>
              <a:t>7-agent LangGraph pipeline + 4-tier memory subsystem</a:t>
            </a:r>
          </a:p>
        </p:txBody>
      </p:sp>
      <p:pic>
        <p:nvPicPr>
          <p:cNvPr id="5" name="Picture 4" descr="ch3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772400" cy="4490720"/>
          </a:xfrm>
          <a:prstGeom prst="rect">
            <a:avLst/>
          </a:prstGeom>
        </p:spPr>
      </p:pic>
      <p:pic>
        <p:nvPicPr>
          <p:cNvPr id="6" name="Picture 5" descr="ch3_multilevel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280160"/>
            <a:ext cx="3474720" cy="193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5303520"/>
            <a:ext cx="347472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1">
                <a:solidFill>
                  <a:srgbClr val="7F8C8D"/>
                </a:solidFill>
              </a:rPr>
              <a:t>Multi-level memory (inset)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</a:rPr>
              <a:t>Stage 1 (parallel) → Diagnostic loop → Reviewer → Refiner → Evaluator → Treatment (DIRECT only) → Memory consolidation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100-patient multi-level memory result</a:t>
            </a:r>
          </a:p>
          <a:p>
            <a:r>
              <a:rPr sz="1300">
                <a:solidFill>
                  <a:srgbClr val="ECF0F1"/>
                </a:solidFill>
              </a:rPr>
              <a:t>Combined batch_3 (cold-start, 50) + batch_4 (warmed, 50)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265176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400" b="1">
                <a:solidFill>
                  <a:srgbClr val="142B4A"/>
                </a:solidFill>
              </a:rPr>
              <a:t>49.0%</a:t>
            </a:r>
          </a:p>
          <a:p>
            <a:pPr algn="ctr"/>
            <a:r>
              <a:rPr sz="1100">
                <a:solidFill>
                  <a:srgbClr val="7F8C8D"/>
                </a:solidFill>
              </a:rPr>
              <a:t>DIRECT (n=100)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143000"/>
            <a:ext cx="265176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400" b="1">
                <a:solidFill>
                  <a:srgbClr val="27AE60"/>
                </a:solidFill>
              </a:rPr>
              <a:t>95.0%</a:t>
            </a:r>
          </a:p>
          <a:p>
            <a:pPr algn="ctr"/>
            <a:r>
              <a:rPr sz="1100">
                <a:solidFill>
                  <a:srgbClr val="7F8C8D"/>
                </a:solidFill>
              </a:rPr>
              <a:t>Found (DIRECT + INDIRECT)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43000"/>
            <a:ext cx="265176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400" b="1">
                <a:solidFill>
                  <a:srgbClr val="D35400"/>
                </a:solidFill>
              </a:rPr>
              <a:t>5.0%</a:t>
            </a:r>
          </a:p>
          <a:p>
            <a:pPr algn="ctr"/>
            <a:r>
              <a:rPr sz="1100">
                <a:solidFill>
                  <a:srgbClr val="7F8C8D"/>
                </a:solidFill>
              </a:rPr>
              <a:t>MISS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143000"/>
            <a:ext cx="265176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400" b="1">
                <a:solidFill>
                  <a:srgbClr val="16A085"/>
                </a:solidFill>
              </a:rPr>
              <a:t>~112 s</a:t>
            </a:r>
          </a:p>
          <a:p>
            <a:pPr algn="ctr"/>
            <a:r>
              <a:rPr sz="1100">
                <a:solidFill>
                  <a:srgbClr val="7F8C8D"/>
                </a:solidFill>
              </a:rPr>
              <a:t>Avg time / patient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926080"/>
          <a:ext cx="11064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030"/>
                <a:gridCol w="1383030"/>
                <a:gridCol w="1383030"/>
                <a:gridCol w="1383030"/>
                <a:gridCol w="1383030"/>
                <a:gridCol w="1383030"/>
                <a:gridCol w="1383030"/>
                <a:gridCol w="1383030"/>
              </a:tblGrid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Cohort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DIRECT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INDIRECT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MISS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Found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Rank-1 in found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Time/patient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4495E"/>
                          </a:solidFill>
                        </a:rPr>
                        <a:t>batch_3 (cold-start)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92%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~113s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4495E"/>
                          </a:solidFill>
                        </a:rPr>
                        <a:t>batch_4 (warmed)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52%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46%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2%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98%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61%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~112s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4495E"/>
                          </a:solidFill>
                        </a:rPr>
                        <a:t>Combined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49%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~112s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5216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Numbers pulled from data/gold/mas_results_improved_b3/ and data/gold/mas_results_improved_50/ via compute_metrics.py.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Split by regime</a:t>
            </a:r>
          </a:p>
          <a:p>
            <a:r>
              <a:rPr sz="1300">
                <a:solidFill>
                  <a:srgbClr val="ECF0F1"/>
                </a:solidFill>
              </a:rPr>
              <a:t>Cold-start (no same-cohort priors) vs warmed (50 batch_4 priors)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53035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325880"/>
            <a:ext cx="5029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COLD-START — batch_3 (50)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1783080"/>
            <a:ext cx="5029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0 same-cohort priors at run start.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468880"/>
            <a:ext cx="26517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</a:rPr>
              <a:t>46%   (23/50)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Found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246120"/>
            <a:ext cx="26517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</a:rPr>
              <a:t>92%   (46/50)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Rank-1 in found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4023360"/>
            <a:ext cx="26517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</a:rPr>
              <a:t>70%   (32/46)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188720"/>
            <a:ext cx="53035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325880"/>
            <a:ext cx="5029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WARMED — batch_4 (50)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783080"/>
            <a:ext cx="5029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Qdrant already held 50 batch_4 patients from a prior run.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2468880"/>
            <a:ext cx="26517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D35400"/>
                </a:solidFill>
              </a:rPr>
              <a:t>52%   (26/50)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4612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Found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3246120"/>
            <a:ext cx="26517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D35400"/>
                </a:solidFill>
              </a:rPr>
              <a:t>98%   (49/50)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02336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Rank-1 in found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4023360"/>
            <a:ext cx="26517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D35400"/>
                </a:solidFill>
              </a:rPr>
              <a:t>61%   (30/49)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349240"/>
            <a:ext cx="10881360" cy="868680"/>
          </a:xfrm>
          <a:prstGeom prst="round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440680"/>
            <a:ext cx="105156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Cohort-leakage estimate (notes/experiments.md, 2026-05-11):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806440"/>
            <a:ext cx="105156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~6 pp of the batch_4 DIRECT gain and ~6 pp of the Found gain come from same-cohort priors, not algorithm.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Paired McNemar A/B (n = 20)</a:t>
            </a:r>
          </a:p>
          <a:p>
            <a:r>
              <a:rPr sz="1300">
                <a:solidFill>
                  <a:srgbClr val="ECF0F1"/>
                </a:solidFill>
              </a:rPr>
              <a:t>Same 20 patients, memory toggled · the only controlled test in the project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59436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</a:tblGrid>
              <a:tr h="883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ON · DIRECT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ON · not-DIRECT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4495E"/>
                          </a:solidFill>
                        </a:rPr>
                        <a:t>OFF · DIRECT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4495E"/>
                          </a:solidFill>
                        </a:rPr>
                        <a:t>OFF · not-DIRECT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040880" y="1463040"/>
            <a:ext cx="4572000" cy="265176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0" y="1554480"/>
            <a:ext cx="4206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DIRECT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2011680"/>
            <a:ext cx="420624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1">
                <a:solidFill>
                  <a:srgbClr val="142B4A"/>
                </a:solidFill>
              </a:rPr>
              <a:t>40%  →  45%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2743200"/>
            <a:ext cx="4206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(8/20 → 9/20 · +5 pp point estimate)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3291840"/>
            <a:ext cx="4206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Exact McNemar (two-sided)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3657600"/>
            <a:ext cx="4206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</a:rPr>
              <a:t>p = 1.0   ·   discordant pairs: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Interpretation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109728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Point estimate favours memory by 5 pp, but with only 5 discordant pairs the sample size cannot confirm or refute. A bigger paired cohort is the obvious next step. The 100-patient aggregate on slide 3 mixes cohorts and is descriptive — this is the only controlled comparison.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Doctor dashboard — features overview</a:t>
            </a:r>
          </a:p>
          <a:p>
            <a:r>
              <a:rPr sz="1300">
                <a:solidFill>
                  <a:srgbClr val="ECF0F1"/>
                </a:solidFill>
              </a:rPr>
              <a:t>Four features that make the run reviewable</a:t>
            </a:r>
          </a:p>
        </p:txBody>
      </p:sp>
      <p:pic>
        <p:nvPicPr>
          <p:cNvPr id="5" name="Picture 4" descr="doctor_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315200" cy="4572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955279" y="1097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58199" y="1051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Agent workflow inline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199" y="1417319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Every stage's output one click away, rendered as a doctor-readable narrative.</a:t>
            </a:r>
          </a:p>
        </p:txBody>
      </p:sp>
      <p:sp>
        <p:nvSpPr>
          <p:cNvPr id="9" name="Oval 8"/>
          <p:cNvSpPr/>
          <p:nvPr/>
        </p:nvSpPr>
        <p:spPr>
          <a:xfrm>
            <a:off x="7955279" y="2240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199" y="2194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Similar past cases (Tier-4 recall)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199" y="2560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Top-K neighbours with their evaluator match type; one click switches view.</a:t>
            </a:r>
          </a:p>
        </p:txBody>
      </p:sp>
      <p:sp>
        <p:nvSpPr>
          <p:cNvPr id="12" name="Oval 11"/>
          <p:cNvSpPr/>
          <p:nvPr/>
        </p:nvSpPr>
        <p:spPr>
          <a:xfrm>
            <a:off x="7955279" y="3383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199" y="3337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Treatment safety panel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199" y="3703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Drugs, interactions, contraindications + planner's assumptions &amp; missing-data warnings.</a:t>
            </a:r>
          </a:p>
        </p:txBody>
      </p:sp>
      <p:sp>
        <p:nvSpPr>
          <p:cNvPr id="15" name="Oval 14"/>
          <p:cNvSpPr/>
          <p:nvPr/>
        </p:nvSpPr>
        <p:spPr>
          <a:xfrm>
            <a:off x="7955279" y="4526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199" y="4480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Reviewer note +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4846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Three-way verdict, free text, initials → data/gold/annotations/&lt;uuid&gt;.json.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URL-driven state: ?r=&lt;set&gt;&amp;p=&lt;uuid&gt;&amp;a=&lt;agent&gt; makes every view shareable and refresh-safe.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Treatment safety + reviewer flow</a:t>
            </a:r>
          </a:p>
          <a:p>
            <a:r>
              <a:rPr sz="1300">
                <a:solidFill>
                  <a:srgbClr val="ECF0F1"/>
                </a:solidFill>
              </a:rPr>
              <a:t>What the planner did NOT know, surfaced; doctor verdict, persisted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772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C0392B"/>
                </a:solidFill>
              </a:rPr>
              <a:t>[treatment screenshot to be captured — drop dashboard_treatment.png next to build_pptx.py and rerun]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3736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42B4A"/>
                </a:solidFill>
              </a:rPr>
              <a:t>Surfaces what the planner did NOT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94560"/>
            <a:ext cx="114300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34495E"/>
                </a:solidFill>
              </a:rPr>
              <a:t>• Drug dose assumptions (e.g. 'eGFR unknown — assumed normal for ACE-I dosing').
• Missing-comorbidity warnings.
• Interaction checks against current medication list.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42B4A"/>
                </a:solidFill>
              </a:rPr>
              <a:t>Reviewer verdict persistence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114800"/>
            <a:ext cx="114300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34495E"/>
                </a:solidFill>
              </a:rPr>
              <a:t>• Three-way verdict (agree / uncertain / disagree).
• Free text + reviewer initials.
• Written to data/gold/annotations/&lt;uuid&gt;.json — the only write surface in the UI.
• Unlocks clinician-agreement metrics beyond LLM-judge.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Literature comparison — their results vs CMADS</a:t>
            </a:r>
          </a:p>
          <a:p>
            <a:r>
              <a:rPr sz="1300">
                <a:solidFill>
                  <a:srgbClr val="ECF0F1"/>
                </a:solidFill>
              </a:rPr>
              <a:t>A/A: ✓ same metric/cohort family · ◐ related but different · ✗ different metric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0972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Paper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Cohort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Their reported headline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CMADS comparable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A/A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4495E"/>
                          </a:solidFill>
                        </a:rPr>
                        <a:t>AMIE (Tu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149 OSCE scenarios · 20 PCPs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Beat PCPs on 28/32 specialist axes; 24/26 patient-actor axes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49% DIRECT  ·  95% Found  (n=100, 8 disease families)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4495E"/>
                          </a:solidFill>
                        </a:rPr>
                        <a:t>MedAgents (Tang 2024)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9 medical-reasoning benchmarks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86.7% avg with GPT-4 (MedQA 83.7%, PubMedQA 94.3%)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49% DIRECT  ·  95% Found  (n=100, 8 disease families)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4495E"/>
                          </a:solidFill>
                        </a:rPr>
                        <a:t>AgentClinic (Schmidgall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215 USMLE + 260 specialist + 749 multilingual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Claude-3.5: 62.1% on AgentClinic-MedQA; PCPs 54% ±28.5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49% DIRECT  ·  95% Found  (n=100, 8 disease families)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4495E"/>
                          </a:solidFill>
                        </a:rPr>
                        <a:t>ZODIAC (Zhou 2024)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Cardiology, 8 metrics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(qualitative) Cardiologist-level on 7/8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49% DIRECT  ·  95% Found  (n=100, 8 disease families)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◐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4495E"/>
                          </a:solidFill>
                        </a:rPr>
                        <a:t>ClinicalLab (Yan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1,500 real cases, 11 depts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(qualitative) Within ~5% of senior physicians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49% DIRECT  ·  95% Found  (n=100, 8 disease families)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486400"/>
            <a:ext cx="1143000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Bold-style numbers are citable from the paper's abstract or experiments section. AMIE and AgentClinic share the closest evaluation shape (real-case differential diagnosis with a clinician baseline). MedAgents reports MCQ accuracy, included as a different-metric reference. (qualitative) marks the strongest non-numeric claim.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Gaps I filled</a:t>
            </a:r>
          </a:p>
          <a:p>
            <a:r>
              <a:rPr sz="1300">
                <a:solidFill>
                  <a:srgbClr val="ECF0F1"/>
                </a:solidFill>
              </a:rPr>
              <a:t>Each gap is small. Nobody closes all four in one system — that's the contribution.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1. End-to-end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Synthea → differential → NICE plan → doctor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8036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MDAgents, ClinicalLab (benchmark accuracy only).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258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6A085"/>
                </a:solidFill>
              </a:rPr>
              <a:t>2. Open-source backbone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965960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GPT-OSS-120B reasoning + Qwen3-32B judge, reproducible.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88036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MDAgents, ClinicalLab, ZODIAC (GPT-4 family).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49039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3. Inspectable 4-tier memory + controlled A/B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26279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Working / Episodic / Semantic / Case-based, with paired test.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40679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all five (memory implicit or absent).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49039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88620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27AE60"/>
                </a:solidFill>
              </a:rPr>
              <a:t>4. Doctor console + persisted verdicts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526279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Agent inspector, similar cases, treatment safety, annotation.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440679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all five (none ship a clinician annotation surface).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42B4A"/>
                </a:solidFill>
              </a:rPr>
              <a:t>The composition is the contribution.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