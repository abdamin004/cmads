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3600" b="1">
                <a:solidFill>
                  <a:srgbClr val="142B4A"/>
                </a:solidFill>
              </a:rPr>
              <a:t>CMADS — Multi-Agent Systems for AI Clinical Decisioning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926080"/>
            <a:ext cx="1097280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0">
                <a:solidFill>
                  <a:srgbClr val="34495E"/>
                </a:solidFill>
              </a:rPr>
              <a:t>via Automation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931920"/>
            <a:ext cx="109728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0">
                <a:solidFill>
                  <a:srgbClr val="16A085"/>
                </a:solidFill>
              </a:rPr>
              <a:t>100-patient multi-level memory results  ·  doctor console  ·  literature comparison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0">
                <a:solidFill>
                  <a:srgbClr val="7F8C8D"/>
                </a:solidFill>
              </a:rPr>
              <a:t>Abdelrahman Mohamed Amin  ·  Supervisor: Dr. Shereen Moataz Afifi  ·  GUC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What CMADS is</a:t>
            </a:r>
          </a:p>
          <a:p>
            <a:r>
              <a:rPr sz="1300">
                <a:solidFill>
                  <a:srgbClr val="ECF0F1"/>
                </a:solidFill>
              </a:rPr>
              <a:t>7-agent LangGraph pipeline + 4-tier memory subsystem</a:t>
            </a:r>
          </a:p>
        </p:txBody>
      </p:sp>
      <p:pic>
        <p:nvPicPr>
          <p:cNvPr id="5" name="Picture 4" descr="ch3_system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772400" cy="4490720"/>
          </a:xfrm>
          <a:prstGeom prst="rect">
            <a:avLst/>
          </a:prstGeom>
        </p:spPr>
      </p:pic>
      <p:pic>
        <p:nvPicPr>
          <p:cNvPr id="6" name="Picture 5" descr="ch3_multilevel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280160"/>
            <a:ext cx="3474720" cy="1930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412480" y="5303520"/>
            <a:ext cx="347472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1">
                <a:solidFill>
                  <a:srgbClr val="7F8C8D"/>
                </a:solidFill>
              </a:rPr>
              <a:t>Multi-level memory (inset)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100" b="0">
                <a:solidFill>
                  <a:srgbClr val="7F8C8D"/>
                </a:solidFill>
              </a:rPr>
              <a:t>Stage 1 (parallel) → Diagnostic loop → Reviewer → Refiner → Evaluator → Treatment (DIRECT only) → Memory consolidation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100-patient multi-level memory result</a:t>
            </a:r>
          </a:p>
          <a:p>
            <a:r>
              <a:rPr sz="1300">
                <a:solidFill>
                  <a:srgbClr val="ECF0F1"/>
                </a:solidFill>
              </a:rPr>
              <a:t>Combined batch_3 (cold-start, 50) + batch_4 (warmed, 50)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142B4A"/>
                </a:solidFill>
              </a:rPr>
              <a:t>49.0%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DIRECT (n=100)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8328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27AE60"/>
                </a:solidFill>
              </a:rPr>
              <a:t>95.0%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Found (DIRECT + INDIRECT)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D35400"/>
                </a:solidFill>
              </a:rPr>
              <a:t>5.0%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MISS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052560" y="1143000"/>
            <a:ext cx="265176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CF0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3400" b="1">
                <a:solidFill>
                  <a:srgbClr val="16A085"/>
                </a:solidFill>
              </a:rPr>
              <a:t>~112 s</a:t>
            </a:r>
          </a:p>
          <a:p>
            <a:pPr algn="ctr"/>
            <a:r>
              <a:rPr sz="1100">
                <a:solidFill>
                  <a:srgbClr val="7F8C8D"/>
                </a:solidFill>
              </a:rPr>
              <a:t>Avg time / patient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2926080"/>
          <a:ext cx="1106424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  <a:gridCol w="1383030"/>
              </a:tblGrid>
              <a:tr h="6172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Cohort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N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INDIRECT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MISS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Found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Rank-1 in found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Time/patient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batch_3 (cold-start)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~113s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batch_4 (warmed)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50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52%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98%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61%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~112s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Combined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~112s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852160"/>
            <a:ext cx="11064240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Numbers pulled from data/gold/mas_results_improved_b3/ and data/gold/mas_results_improved_50/ via compute_metrics.py.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Split by regime</a:t>
            </a:r>
          </a:p>
          <a:p>
            <a:r>
              <a:rPr sz="1300">
                <a:solidFill>
                  <a:srgbClr val="ECF0F1"/>
                </a:solidFill>
              </a:rPr>
              <a:t>Cold-start (no same-cohort priors) vs warmed (50 batch_4 priors)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188720"/>
            <a:ext cx="53035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COLD-START — batch_3 (50)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0 same-cohort priors at run start.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0" y="246888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46%   (23/50)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24612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324612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92%   (46/50)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402336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1F4E79"/>
                </a:solidFill>
              </a:rPr>
              <a:t>70%   (32/46)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188720"/>
            <a:ext cx="5303520" cy="39319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3258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WARMED — batch_4 (50)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1783080"/>
            <a:ext cx="50292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Qdrant already held 50 batch_4 patients from a prior run.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46888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246888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52%   (26/50)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4612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Found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24612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98%   (49/50)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023360"/>
            <a:ext cx="21945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Rank-1 in found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4023360"/>
            <a:ext cx="265176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800" b="1">
                <a:solidFill>
                  <a:srgbClr val="D35400"/>
                </a:solidFill>
              </a:rPr>
              <a:t>61%   (30/49)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49240"/>
            <a:ext cx="10881360" cy="868680"/>
          </a:xfrm>
          <a:prstGeom prst="round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440680"/>
            <a:ext cx="105156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34495E"/>
                </a:solidFill>
              </a:rPr>
              <a:t>Cohort-leakage estimate (notes/experiments.md, 2026-05-11):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806440"/>
            <a:ext cx="1051560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~6 pp of the batch_4 DIRECT gain and ~6 pp of the Found gain come from same-cohort priors, not algorithm.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Paired McNemar A/B (n = 20)</a:t>
            </a:r>
          </a:p>
          <a:p>
            <a:r>
              <a:rPr sz="1300">
                <a:solidFill>
                  <a:srgbClr val="ECF0F1"/>
                </a:solidFill>
              </a:rPr>
              <a:t>Same 20 patients, memory toggled · the only controlled test in the project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463040"/>
          <a:ext cx="59436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81200"/>
                <a:gridCol w="1981200"/>
                <a:gridCol w="1981200"/>
              </a:tblGrid>
              <a:tr h="88392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ON · 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ON · not-DIRECT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OFF · DIRECT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83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OFF · not-DIRECT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3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9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040880" y="1463040"/>
            <a:ext cx="4572000" cy="2651760"/>
          </a:xfrm>
          <a:prstGeom prst="roundRect">
            <a:avLst/>
          </a:prstGeom>
          <a:solidFill>
            <a:srgbClr val="FFFFFF"/>
          </a:solidFill>
          <a:ln>
            <a:solidFill>
              <a:srgbClr val="ECF0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0" y="155448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DIRECT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2011680"/>
            <a:ext cx="4206240" cy="6400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2800" b="1">
                <a:solidFill>
                  <a:srgbClr val="142B4A"/>
                </a:solidFill>
              </a:rPr>
              <a:t>40%  →  45%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274320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(8/20 → 9/20 · +5 pp point estimate)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329184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300" b="1">
                <a:solidFill>
                  <a:srgbClr val="34495E"/>
                </a:solidFill>
              </a:rPr>
              <a:t>Exact McNemar (two-sided)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3657600"/>
            <a:ext cx="420624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C0392B"/>
                </a:solidFill>
              </a:rPr>
              <a:t>p = 1.0   ·   discordant pairs: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72000"/>
            <a:ext cx="109728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34495E"/>
                </a:solidFill>
              </a:rPr>
              <a:t>Interpretation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109728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Point estimate favours memory by 5 pp, but with only 5 discordant pairs the sample size cannot confirm or refute. A bigger paired cohort is the obvious next step. The 100-patient aggregate on slide 3 mixes cohorts and is descriptive — this is the only controlled comparison.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Doctor dashboard — features overview</a:t>
            </a:r>
          </a:p>
          <a:p>
            <a:r>
              <a:rPr sz="1300">
                <a:solidFill>
                  <a:srgbClr val="ECF0F1"/>
                </a:solidFill>
              </a:rPr>
              <a:t>Four features that make the run reviewable</a:t>
            </a:r>
          </a:p>
        </p:txBody>
      </p:sp>
      <p:pic>
        <p:nvPicPr>
          <p:cNvPr id="5" name="Picture 4" descr="doctor_cons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097280"/>
            <a:ext cx="7315200" cy="45720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7955279" y="1097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58199" y="1051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Agent workflow inline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58199" y="1417319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Every stage's output one click away, rendered as a doctor-readable narrative.</a:t>
            </a:r>
          </a:p>
        </p:txBody>
      </p:sp>
      <p:sp>
        <p:nvSpPr>
          <p:cNvPr id="9" name="Oval 8"/>
          <p:cNvSpPr/>
          <p:nvPr/>
        </p:nvSpPr>
        <p:spPr>
          <a:xfrm>
            <a:off x="7955279" y="2240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58199" y="2194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Similar past cases (Tier-4 recall)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58199" y="2560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Top-K neighbours with their evaluator match type; one click switches view.</a:t>
            </a:r>
          </a:p>
        </p:txBody>
      </p:sp>
      <p:sp>
        <p:nvSpPr>
          <p:cNvPr id="12" name="Oval 11"/>
          <p:cNvSpPr/>
          <p:nvPr/>
        </p:nvSpPr>
        <p:spPr>
          <a:xfrm>
            <a:off x="7955279" y="3383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199" y="3337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Treatment safety panel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58199" y="3703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Drugs, interactions, contraindications + planner's assumptions &amp; missing-data warnings.</a:t>
            </a:r>
          </a:p>
        </p:txBody>
      </p:sp>
      <p:sp>
        <p:nvSpPr>
          <p:cNvPr id="15" name="Oval 14"/>
          <p:cNvSpPr/>
          <p:nvPr/>
        </p:nvSpPr>
        <p:spPr>
          <a:xfrm>
            <a:off x="7955279" y="4526280"/>
            <a:ext cx="411480" cy="411480"/>
          </a:xfrm>
          <a:prstGeom prst="ellipse">
            <a:avLst/>
          </a:prstGeom>
          <a:solidFill>
            <a:srgbClr val="D35400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199" y="4480560"/>
            <a:ext cx="384048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1">
                <a:solidFill>
                  <a:srgbClr val="142B4A"/>
                </a:solidFill>
              </a:rPr>
              <a:t>Reviewer note + persistence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199" y="4846320"/>
            <a:ext cx="384048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000" b="0">
                <a:solidFill>
                  <a:srgbClr val="34495E"/>
                </a:solidFill>
              </a:rPr>
              <a:t>Three-way verdict, free text, initials → data/gold/annotations/&lt;uuid&gt;.json.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6263640"/>
            <a:ext cx="114300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000" b="0">
                <a:solidFill>
                  <a:srgbClr val="7F8C8D"/>
                </a:solidFill>
              </a:rPr>
              <a:t>URL-driven state: ?r=&lt;set&gt;&amp;p=&lt;uuid&gt;&amp;a=&lt;agent&gt; makes every view shareable and refresh-safe.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Treatment safety + reviewer flow</a:t>
            </a:r>
          </a:p>
          <a:p>
            <a:r>
              <a:rPr sz="1300">
                <a:solidFill>
                  <a:srgbClr val="ECF0F1"/>
                </a:solidFill>
              </a:rPr>
              <a:t>What the planner did NOT know, surfaced; doctor verdict, persisted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772400" cy="5486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C0392B"/>
                </a:solidFill>
              </a:rPr>
              <a:t>[treatment screenshot to be captured — drop dashboard_treatment.png next to build_pptx.py and rerun]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73736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42B4A"/>
                </a:solidFill>
              </a:rPr>
              <a:t>Surfaces what the planner did NOT know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94560"/>
            <a:ext cx="11430000" cy="13716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</a:rPr>
              <a:t>• Drug dose assumptions (e.g. 'eGFR unknown — assumed normal for ACE-I dosing').
• Missing-comorbidity warnings.
• Interaction checks against current medication list.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657600"/>
            <a:ext cx="114300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400" b="1">
                <a:solidFill>
                  <a:srgbClr val="142B4A"/>
                </a:solidFill>
              </a:rPr>
              <a:t>Reviewer verdict persistence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114800"/>
            <a:ext cx="11430000" cy="1645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34495E"/>
                </a:solidFill>
              </a:rPr>
              <a:t>• Three-way verdict (agree / uncertain / disagree).
• Free text + reviewer initials.
• Written to data/gold/annotations/&lt;uuid&gt;.json — the only write surface in the UI.
• Unlocks clinician-agreement metrics beyond LLM-judge.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Literature comparison — their results vs CMADS</a:t>
            </a:r>
          </a:p>
          <a:p>
            <a:r>
              <a:rPr sz="1300">
                <a:solidFill>
                  <a:srgbClr val="ECF0F1"/>
                </a:solidFill>
              </a:rPr>
              <a:t>A/A: ✓ same metric/cohort family · ◐ related but different · ✗ different metric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097280"/>
          <a:ext cx="114300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  <a:gridCol w="2286000"/>
                <a:gridCol w="2286000"/>
                <a:gridCol w="2286000"/>
              </a:tblGrid>
              <a:tr h="70104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Paper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Cohort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Their reported headline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CMADS comparable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A/A</a:t>
                      </a:r>
                    </a:p>
                  </a:txBody>
                  <a:tcPr>
                    <a:solidFill>
                      <a:srgbClr val="142B4A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MDAgents (Kim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10 MCQ benchmarks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Best on 7/10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ZODIAC (Zhou 2024)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Cardiology, 8 metrics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Cardiologist-level on 7/8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ClinicalLab (Yan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1,500 real cases, 11 depts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Within ~5% of senior physicians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49% DIRECT  ·  95% Found  (n=100, 8 disease families)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◐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MAC Framework (2025)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302 rare-disease cases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Outperforms self-consistency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Common chronic disease cohort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7F9FC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34495E"/>
                          </a:solidFill>
                        </a:rPr>
                        <a:t>RareAgents (Chen 2024)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RareBench + MIMIC-Ext-Rare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(qualitative) Open backbone beats GPT-4o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DIRECT/INDIRECT/MISS, not Hit@K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34495E"/>
                          </a:solidFill>
                        </a:rPr>
                        <a:t>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5486400"/>
            <a:ext cx="11430000" cy="10058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Apples-to-apples is rare in this literature: most evaluate on MCQ benchmarks or a single specialty, not end-to-end EHR records across 8 families. Numbers marked (qualitative) are the strongest claim verifiable from the bib entry / abstract.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42B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64592"/>
            <a:ext cx="11338560" cy="640080"/>
          </a:xfrm>
          <a:prstGeom prst="rect">
            <a:avLst/>
          </a:prstGeom>
          <a:noFill/>
        </p:spPr>
        <p:txBody>
          <a:bodyPr wrap="none" lIns="0" rIns="0">
            <a:spAutoFit/>
          </a:bodyPr>
          <a:lstStyle/>
          <a:p>
            <a:r>
              <a:rPr sz="2600" b="1">
                <a:solidFill>
                  <a:srgbClr val="FFFFFF"/>
                </a:solidFill>
              </a:rPr>
              <a:t>Gaps I filled</a:t>
            </a:r>
          </a:p>
          <a:p>
            <a:r>
              <a:rPr sz="1300">
                <a:solidFill>
                  <a:srgbClr val="ECF0F1"/>
                </a:solidFill>
              </a:rPr>
              <a:t>Each gap is small. Nobody closes all four in one system — that's the contribution.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F4E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F4E79"/>
                </a:solidFill>
              </a:rPr>
              <a:t>1. End-to-end pipeline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Synthea → differential → NICE plan → doctor review.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 (benchmark accuracy only).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188720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32588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16A085"/>
                </a:solidFill>
              </a:rPr>
              <a:t>2. Open-source backbone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965960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GPT-OSS-120B reasoning + Qwen3-32B judge, reproducible.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88036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MDAgents, ClinicalLab, ZODIAC (GPT-4 family).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35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D35400"/>
                </a:solidFill>
              </a:rPr>
              <a:t>3. Inspectable 4-tier memory + controlled A/B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Working / Episodic / Semantic / Case-based, with paired 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(memory implicit or absent).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3749039"/>
            <a:ext cx="5394960" cy="23774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600" b="1">
                <a:solidFill>
                  <a:srgbClr val="27AE60"/>
                </a:solidFill>
              </a:rPr>
              <a:t>4. Doctor console + persisted verdicts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4526279"/>
            <a:ext cx="5120640" cy="777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200" b="0">
                <a:solidFill>
                  <a:srgbClr val="34495E"/>
                </a:solidFill>
              </a:rPr>
              <a:t>Agent inspector, similar cases, treatment safety, annotation.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440679"/>
            <a:ext cx="5120640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/>
            <a:r>
              <a:rPr sz="1100" b="0">
                <a:solidFill>
                  <a:srgbClr val="7F8C8D"/>
                </a:solidFill>
              </a:rPr>
              <a:t>vs all five (none ship a clinician annotation surface).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4114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/>
            <a:r>
              <a:rPr sz="1400" b="1">
                <a:solidFill>
                  <a:srgbClr val="142B4A"/>
                </a:solidFill>
              </a:rPr>
              <a:t>The composition is the contribution.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