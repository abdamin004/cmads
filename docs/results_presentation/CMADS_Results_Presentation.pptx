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680960" cy="44378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38160" y="12527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247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Synthetic patient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356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Synthea → Bronze → Silver → Gold medallion pipeline; one cohort, no PHI.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207568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94767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7-agent LangGraph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25856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EHR + Labs → diagnosis → review → refine → evaluate → NICE treatment.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289864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77063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Vector database (Qdrant)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3081527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BioLORD-2023 embeddings of past cases + NICE guidelines; RAG at recall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8138160" y="372160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59359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4-tier memory subsystem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390448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Working · Episodic · Semantic · Case-based — written every patient.</a:t>
            </a:r>
          </a:p>
        </p:txBody>
      </p:sp>
      <p:sp>
        <p:nvSpPr>
          <p:cNvPr id="18" name="Oval 17"/>
          <p:cNvSpPr/>
          <p:nvPr/>
        </p:nvSpPr>
        <p:spPr>
          <a:xfrm>
            <a:off x="8138160" y="454456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41655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Open-source LLMs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472744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GPT-OSS-120B reasoning + Qwen3-32B judge via Groq — reproducible under $30/1k.</a:t>
            </a:r>
          </a:p>
        </p:txBody>
      </p:sp>
      <p:sp>
        <p:nvSpPr>
          <p:cNvPr id="21" name="Oval 20"/>
          <p:cNvSpPr/>
          <p:nvPr/>
        </p:nvSpPr>
        <p:spPr>
          <a:xfrm>
            <a:off x="8138160" y="5367528"/>
            <a:ext cx="137160" cy="13716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5239512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Doctor-facing console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5550408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Agent inspector, similar-case browser, treatment-safety review, persisted verdicts.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 — single-level vs multi-level memory</a:t>
            </a:r>
          </a:p>
          <a:p>
            <a:r>
              <a:rPr sz="1300">
                <a:solidFill>
                  <a:srgbClr val="ECF0F1"/>
                </a:solidFill>
              </a:rPr>
              <a:t>Same 160 patients run with both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Single-level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Per-run state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53.1%   (85/160)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91.9%   (147/160)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8.1%   (13/160)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59.9%   (88/147)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097280"/>
            <a:ext cx="53949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Multi-level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4-tier subsystem (working / episodic / semantic / case-based)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194560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94560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52.5%   (84/160)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761488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761488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93.8%   (150/160)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28415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328415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6.2%   (10/160)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95344"/>
            <a:ext cx="24688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895344"/>
            <a:ext cx="25603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61.3%   (92/150)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5488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(Multi-level − Single-level)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C0392B"/>
                </a:solidFill>
              </a:rPr>
              <a:t>-0.6 pp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37560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+1.9 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-1.9 pp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399" y="5212080"/>
            <a:ext cx="2651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98279" y="5303520"/>
            <a:ext cx="1188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59" y="5303520"/>
            <a:ext cx="1280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700" b="1">
                <a:solidFill>
                  <a:srgbClr val="27AE60"/>
                </a:solidFill>
              </a:rPr>
              <a:t>+1.4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</a:rPr>
              <a:t>Same 160 UUIDs in both arms — identical patients, prompts, evaluator, and model; only the memory subsystem toggled.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Multi-agent orchestration vs single LLM call</a:t>
            </a:r>
          </a:p>
          <a:p>
            <a:r>
              <a:rPr sz="1300">
                <a:solidFill>
                  <a:srgbClr val="ECF0F1"/>
                </a:solidFill>
              </a:rPr>
              <a:t>Same 160 UUIDs · same reasoning model (GPT-OSS-120B) · same judge (Qwen3-32B)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Single LLM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1 prompt per patient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9456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9456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40.0%   (64/160)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8892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78892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68.1%   (109/160)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31.9%   (51/160)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09728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34440"/>
            <a:ext cx="50292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Multi-agent pipeline (7 agents)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64208"/>
            <a:ext cx="5029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Parallel Stage 1 + adaptive Diagnostic loop + Reviewer-Refiner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19456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73.1%   (117/160)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78892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 (D + 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8892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87.5%   (140/160)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83280"/>
            <a:ext cx="24688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383280"/>
            <a:ext cx="25603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12.5%   (20/160)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Δ (Multi-agent − single LLM)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+33.1 pp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5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+19.4 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5029200"/>
            <a:ext cx="35661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5120640"/>
            <a:ext cx="1371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MISS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199" y="5120640"/>
            <a:ext cx="1920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800" b="1">
                <a:solidFill>
                  <a:srgbClr val="27AE60"/>
                </a:solidFill>
              </a:rPr>
              <a:t>-19.4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34495E"/>
                </a:solidFill>
              </a:rPr>
              <a:t>Paired contingency on DIRECT: 48 both · 69 only-multi-agent · 16 only-single-LLM · 27 neither  (85 discordant)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1">
                <a:solidFill>
                  <a:srgbClr val="142B4A"/>
                </a:solidFill>
              </a:rPr>
              <a:t>Exact McNemar p &lt; 0.0001  ·  Multi-agent orchestration buys +33 pp DIRECT and +19 pp Found at ~22× wall-clock cost.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Where CMADS sits against the literature</a:t>
            </a:r>
          </a:p>
          <a:p>
            <a:r>
              <a:rPr sz="1300">
                <a:solidFill>
                  <a:srgbClr val="ECF0F1"/>
                </a:solidFill>
              </a:rPr>
              <a:t>Seven comparators · what they do, their result, and what they leave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AMIE (Tu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Conversational diagnostic AI; OSCE-style consultations.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Beat PCPs on 28/32 specialist axes (149 cases · 20 PCPs).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backbone · no doctor UI · no inspectable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AgentClinic (Schmidgall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Multimodal benchmark of LLM agents in simulated clinics.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Claude-3.5: 62.1% on AgentClinic-MedQA · PCPs 54%±28.5.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Benchmark of others, not a deployed pipeline · no treatment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4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MedAgents (Tang 2024, ACL)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Multi-agent CoT for zero-shot medical reasoning.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GPT-4: 86.7% avg on 9 MCQ benchmarks (MedQA 83.7%).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patient data · no memory · no 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846319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9203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D35400"/>
                </a:solidFill>
              </a:rPr>
              <a:t>MDTeamGPT (Chen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93791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Self-evolving MDT with CorrectKB + ChainKB.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39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90.1% on MedQA · 83.9% on PubMedQA.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760719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MCQ-only · no end-to-end pipeline · no clinician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00584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05156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</a:rPr>
              <a:t>TAO (Kim 2025, ICML)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35331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Tiered Agentic Oversight for healthcare safety.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64592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+8.2% on 4/5 safety benchmarks · triage 40% → 60% w/ MDs.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920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Safety wrapper, not a diagnostic pipeline · no case-based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28600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31720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</a:rPr>
              <a:t>ClinicalLab (Yan 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3347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Coordinator + Chief Physician across 11 departments.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92608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Within ~5% of senior physicians on 1,500 real cases.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20040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Closed-source · no published memory subsystem · no doctor UI.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66160"/>
            <a:ext cx="5623560" cy="11887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611879"/>
            <a:ext cx="5394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6A085"/>
                </a:solidFill>
              </a:rPr>
              <a:t>ZODIAC (Zhou 2024)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913632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34495E"/>
                </a:solidFill>
              </a:rPr>
              <a:t>5-agent cardiology + clinician review.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0624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1">
                <a:solidFill>
                  <a:srgbClr val="34495E"/>
                </a:solidFill>
              </a:rPr>
              <a:t>Result: Cardiologist-level on 7/8 metrics (qualitative).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480560"/>
            <a:ext cx="53949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</a:rPr>
              <a:t>Missing: Single specialty · no memory · no treatment plan · no open backbone.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263640"/>
            <a:ext cx="11521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Comparison is on multiple axes: cohort + headline + what each system leaves out. CMADS fills the union of those gaps.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