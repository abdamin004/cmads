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142B4A"/>
                </a:solidFill>
              </a:rPr>
              <a:t>CMADS — Multi-Agent Systems for AI Clinical Decisioning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0">
                <a:solidFill>
                  <a:srgbClr val="34495E"/>
                </a:solidFill>
              </a:rPr>
              <a:t>via Automation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6A085"/>
                </a:solidFill>
              </a:rPr>
              <a:t>100-patient multi-level memory results  ·  doctor console  ·  literature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Abdelrahman Mohamed Amin  ·  Supervisor: Dr. Shereen Moataz Afifi  ·  GUC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CMADS is</a:t>
            </a:r>
          </a:p>
          <a:p>
            <a:r>
              <a:rPr sz="1300">
                <a:solidFill>
                  <a:srgbClr val="ECF0F1"/>
                </a:solidFill>
              </a:rPr>
              <a:t>7-agent LangGraph pipeline + 4-tier memory subsystem</a:t>
            </a:r>
          </a:p>
        </p:txBody>
      </p:sp>
      <p:pic>
        <p:nvPicPr>
          <p:cNvPr id="5" name="Picture 4" descr="ch3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680960" cy="44378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38160" y="12527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247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Synthetic patient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356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Synthea → Bronze → Silver → Gold medallion pipeline; one cohort, no PHI.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207568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94767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7-agent LangGraph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25856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EHR + Labs → diagnosis → review → refine → evaluate → NICE treatment.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0" y="289864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77063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Vector database (Qdrant)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3081527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BioLORD-2023 embeddings of past cases + NICE guidelines; RAG at recall time.</a:t>
            </a:r>
          </a:p>
        </p:txBody>
      </p:sp>
      <p:sp>
        <p:nvSpPr>
          <p:cNvPr id="15" name="Oval 14"/>
          <p:cNvSpPr/>
          <p:nvPr/>
        </p:nvSpPr>
        <p:spPr>
          <a:xfrm>
            <a:off x="8138160" y="372160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59359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4-tier memory subsystem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90448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Working · Episodic · Semantic · Case-based — written every patient.</a:t>
            </a:r>
          </a:p>
        </p:txBody>
      </p:sp>
      <p:sp>
        <p:nvSpPr>
          <p:cNvPr id="18" name="Oval 17"/>
          <p:cNvSpPr/>
          <p:nvPr/>
        </p:nvSpPr>
        <p:spPr>
          <a:xfrm>
            <a:off x="8138160" y="454456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41655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Open-source LLMs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72744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GPT-OSS-120B reasoning + Qwen3-32B judge via Groq — reproducible under $30/1k.</a:t>
            </a:r>
          </a:p>
        </p:txBody>
      </p:sp>
      <p:sp>
        <p:nvSpPr>
          <p:cNvPr id="21" name="Oval 20"/>
          <p:cNvSpPr/>
          <p:nvPr/>
        </p:nvSpPr>
        <p:spPr>
          <a:xfrm>
            <a:off x="8138160" y="53675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52395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Doctor-facing console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55504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Agent inspector, similar-case browser, treatment-safety review, persisted verdicts.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Stage 1 (parallel) → Diagnostic loop → Reviewer → Refiner → Evaluator → Treatment (DIRECT only) → Memory consolidation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Results — single-level vs multi-level memory</a:t>
            </a:r>
          </a:p>
          <a:p>
            <a:r>
              <a:rPr sz="1300">
                <a:solidFill>
                  <a:srgbClr val="ECF0F1"/>
                </a:solidFill>
              </a:rPr>
              <a:t>Same 160 patients run with both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39496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0292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Single-level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64208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Per-run state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945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945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53.1%   (85/160)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614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761488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91.9%   (147/160)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28415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328415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8.1%   (13/160)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895344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895344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59.9%   (88/147)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097280"/>
            <a:ext cx="539496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50292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D35400"/>
                </a:solidFill>
              </a:rPr>
              <a:t>Multi-level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64208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4-tier subsystem (working / episodic / semantic / case-based)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945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1945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52.5%   (84/160)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7614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761488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93.8%   (150/160)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328415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328415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6.2%   (10/160)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895344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895344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61.3%   (92/150)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75488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Δ (Multi-level − Single-level)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C0392B"/>
                </a:solidFill>
              </a:rPr>
              <a:t>-0.6 pp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37560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27AE60"/>
                </a:solidFill>
              </a:rPr>
              <a:t>+1.9 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27AE60"/>
                </a:solidFill>
              </a:rPr>
              <a:t>-1.9 pp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399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98279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59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27AE60"/>
                </a:solidFill>
              </a:rPr>
              <a:t>+1.4 pp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</a:rPr>
              <a:t>Same 160 UUIDs in both arms — identical patients, prompts, evaluator, and model; only the memory subsystem toggled.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Multi-agent orchestration vs single LLM call</a:t>
            </a:r>
          </a:p>
          <a:p>
            <a:r>
              <a:rPr sz="1300">
                <a:solidFill>
                  <a:srgbClr val="ECF0F1"/>
                </a:solidFill>
              </a:rPr>
              <a:t>Same 160 UUIDs · same reasoning model (GPT-OSS-120B) · same judge (Qwen3-32B)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39496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0292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D35400"/>
                </a:solidFill>
              </a:rPr>
              <a:t>Single LLM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64208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1 prompt per patient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9456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9456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40.0%   (64/160)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8892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78892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68.1%   (109/160)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31.9%   (51/160)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097280"/>
            <a:ext cx="539496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234440"/>
            <a:ext cx="50292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Multi-agent pipeline (7 agents)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664208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Parallel Stage 1 + adaptive Diagnostic loop + Reviewer-Refiner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9456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19456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73.1%   (117/160)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78892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78892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87.5%   (140/160)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38328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12.5%   (20/160)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7200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Δ (Multi-agent − single LLM)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+33.1 pp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7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5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+19.4 pp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19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-19.4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34495E"/>
                </a:solidFill>
              </a:rPr>
              <a:t>Paired contingency on DIRECT: 48 both · 69 only-multi-agent · 16 only-single-LLM · 27 neither  (85 discordant)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142B4A"/>
                </a:solidFill>
              </a:rPr>
              <a:t>Exact McNemar p &lt; 0.0001  ·  Multi-agent orchestration buys +33 pp DIRECT and +19 pp Found at ~22× wall-clock cost.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Doctor dashboard — features overview</a:t>
            </a:r>
          </a:p>
          <a:p>
            <a:r>
              <a:rPr sz="1300">
                <a:solidFill>
                  <a:srgbClr val="ECF0F1"/>
                </a:solidFill>
              </a:rPr>
              <a:t>Four features that make the run reviewable</a:t>
            </a:r>
          </a:p>
        </p:txBody>
      </p:sp>
      <p:pic>
        <p:nvPicPr>
          <p:cNvPr id="5" name="Picture 4" descr="doc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315200" cy="4572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955279" y="1097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9" y="1051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Agent workflow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9" y="1417319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Every stage's output one click away, rendered as a doctor-readable narrative.</a:t>
            </a:r>
          </a:p>
        </p:txBody>
      </p:sp>
      <p:sp>
        <p:nvSpPr>
          <p:cNvPr id="9" name="Oval 8"/>
          <p:cNvSpPr/>
          <p:nvPr/>
        </p:nvSpPr>
        <p:spPr>
          <a:xfrm>
            <a:off x="7955279" y="2240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199" y="2194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Similar past cases (Tier-4 recall)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199" y="2560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Top-K neighbours with their evaluator match type; one click switches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955279" y="3383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199" y="3337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Treatment safety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703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Drugs, interactions, contraindications + planner's assumptions &amp; missing-data warnings.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79" y="4526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4480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Reviewer note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Three-way verdict, free text, initials → data/gold/annotations/&lt;uuid&gt;.json.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URL-driven state: ?r=&lt;set&gt;&amp;p=&lt;uuid&gt;&amp;a=&lt;agent&gt; makes every view shareable and refresh-safe.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Where CMADS sits against the literature</a:t>
            </a:r>
          </a:p>
          <a:p>
            <a:r>
              <a:rPr sz="1300">
                <a:solidFill>
                  <a:srgbClr val="ECF0F1"/>
                </a:solidFill>
              </a:rPr>
              <a:t>Eight comparators · what they do, their result, and what they leave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AMIE (Tu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Conversational diagnostic AI; OSCE-style consultations.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Beat PCPs on 28/32 specialist axes (149 cases · 20 PCPs).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backbone · no doctor UI · no inspectable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AgentClinic (Schmidgall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Multimodal benchmark of LLM agents in simulated clinics.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Claude-3.5: 62.1% on AgentClinic-MedQA · PCPs 54%±28.5.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Benchmark of others, not a deployed pipeline · no treatment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4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MedAgents (Tang 2024, ACL)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Multi-agent CoT for zero-shot medical reasoning.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GPT-4: 86.7% avg on 9 MCQ benchmarks (MedQA 83.7%).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patient data · no memory · no 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846319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9203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D35400"/>
                </a:solidFill>
              </a:rPr>
              <a:t>MDTeamGPT (Chen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93791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Self-evolving MDT with CorrectKB + ChainKB.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39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90.1% on MedQA · 83.9% on PubMedQA.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1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end-to-end pipeline · no clinician interface.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TAO (Kim 2025, ICML)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Tiered Agentic Oversight for healthcare safety.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+8.2% on 4/5 safety benchmarks · triage 40% → 60% w/ MDs.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Safety wrapper, not a diagnostic pipeline · no case-based memory.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ClinicalLab (Yan 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Coordinator + Chief Physician across 11 departments.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Within ~5% of senior physicians on 1,500 real cases.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· no published memory subsystem · no doctor UI.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ZODIAC (Zhou 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5-agent cardiology + clinician review.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Cardiologist-level on 7/8 metrics (qualitative).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Single specialty · no memory · no treatment plan · no open backbone.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846319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489203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D35400"/>
                </a:solidFill>
              </a:rPr>
              <a:t>Rahman &amp; Emdad (2025, ACM ICIM)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193791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Tabular NN diagnostic classifier on Synthea — closest Synthea-on-AI prior.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48639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F1 drops to 0.581 under telemedicine context loss (100k encounters).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76071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Classification on tabular features · no LLM reasoning · no multi-agent.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6263640"/>
            <a:ext cx="11521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Comparison is on multiple axes: cohort + headline + what each system leaves out. CMADS fills the union of those gaps.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Gaps I filled</a:t>
            </a:r>
          </a:p>
          <a:p>
            <a:r>
              <a:rPr sz="1300">
                <a:solidFill>
                  <a:srgbClr val="ECF0F1"/>
                </a:solidFill>
              </a:rPr>
              <a:t>Each gap is small. Nobody closes all four in one system — that's the contribution.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1.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Synthea → differential → NICE plan → doctor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 (benchmark accuracy 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</a:rPr>
              <a:t>2. Open-source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GPT-OSS-120B reasoning + Qwen3-32B judge,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ClinicalLab, ZODIAC (GPT-4 family).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3. Inspectable 4-tier memory + controlled A/B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Working / Episodic / Semantic / Case-based, with paired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(memory implicit or absent).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4. Doctor console + persisted verdicts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Agent inspector, similar cases, treatment safety,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(none ship a clinician annotation surface).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42B4A"/>
                </a:solidFill>
              </a:rPr>
              <a:t>The composition is the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