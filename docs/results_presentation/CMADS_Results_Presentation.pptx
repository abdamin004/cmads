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142B4A"/>
                </a:solidFill>
              </a:rPr>
              <a:t>CMADS — Multi-Agent Systems for AI Clinical Decisioning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0">
                <a:solidFill>
                  <a:srgbClr val="34495E"/>
                </a:solidFill>
              </a:rPr>
              <a:t>via Automation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6A085"/>
                </a:solidFill>
              </a:rPr>
              <a:t>100-patient multi-level memory results  ·  doctor console  ·  literature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Abdelrahman Mohamed Amin  ·  Supervisor: Dr. Shereen Moataz Afifi  ·  GUC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CMADS is</a:t>
            </a:r>
          </a:p>
          <a:p>
            <a:r>
              <a:rPr sz="1300">
                <a:solidFill>
                  <a:srgbClr val="ECF0F1"/>
                </a:solidFill>
              </a:rPr>
              <a:t>7-agent LangGraph pipeline + 4-tier memory subsystem</a:t>
            </a:r>
          </a:p>
        </p:txBody>
      </p:sp>
      <p:pic>
        <p:nvPicPr>
          <p:cNvPr id="5" name="Picture 4" descr="ch3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680960" cy="44378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38160" y="12527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247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Synthetic patient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356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Synthea → Bronze → Silver → Gold medallion pipeline; one cohort, no PHI.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207568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94767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7-agent LangGraph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25856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EHR + Labs → diagnosis → review → refine → evaluate → NICE treatment.</a:t>
            </a:r>
          </a:p>
        </p:txBody>
      </p:sp>
      <p:sp>
        <p:nvSpPr>
          <p:cNvPr id="12" name="Oval 11"/>
          <p:cNvSpPr/>
          <p:nvPr/>
        </p:nvSpPr>
        <p:spPr>
          <a:xfrm>
            <a:off x="8138160" y="289864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77063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Vector database (Qdrant)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3081527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BioLORD-2023 embeddings of past cases + NICE guidelines; RAG at recall time.</a:t>
            </a:r>
          </a:p>
        </p:txBody>
      </p:sp>
      <p:sp>
        <p:nvSpPr>
          <p:cNvPr id="15" name="Oval 14"/>
          <p:cNvSpPr/>
          <p:nvPr/>
        </p:nvSpPr>
        <p:spPr>
          <a:xfrm>
            <a:off x="8138160" y="372160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59359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4-tier memory subsystem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390448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Working · Episodic · Semantic · Case-based — written every patient.</a:t>
            </a:r>
          </a:p>
        </p:txBody>
      </p:sp>
      <p:sp>
        <p:nvSpPr>
          <p:cNvPr id="18" name="Oval 17"/>
          <p:cNvSpPr/>
          <p:nvPr/>
        </p:nvSpPr>
        <p:spPr>
          <a:xfrm>
            <a:off x="8138160" y="454456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441655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Open-source LLMs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72744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GPT-OSS-120B reasoning + Qwen3-32B judge via Groq — reproducible under $30/1k.</a:t>
            </a:r>
          </a:p>
        </p:txBody>
      </p:sp>
      <p:sp>
        <p:nvSpPr>
          <p:cNvPr id="21" name="Oval 20"/>
          <p:cNvSpPr/>
          <p:nvPr/>
        </p:nvSpPr>
        <p:spPr>
          <a:xfrm>
            <a:off x="8138160" y="53675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52395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Doctor-facing console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55504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Agent inspector, similar-case browser, treatment-safety review, persisted verdicts.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Stage 1 (parallel) → Diagnostic loop → Reviewer → Refiner → Evaluator → Treatment (DIRECT only) → Memory consolidation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Results — single-level vs multi-level memory</a:t>
            </a:r>
          </a:p>
          <a:p>
            <a:r>
              <a:rPr sz="1300">
                <a:solidFill>
                  <a:srgbClr val="ECF0F1"/>
                </a:solidFill>
              </a:rPr>
              <a:t>Same 160 patients run with both configurations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539496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0292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Single-level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64208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Per-run state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945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945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53.1%   (85/160)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7614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761488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91.9%   (147/160)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28415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328415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8.1%   (13/160)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895344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895344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59.9%   (88/147)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097280"/>
            <a:ext cx="539496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34440"/>
            <a:ext cx="50292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D35400"/>
                </a:solidFill>
              </a:rPr>
              <a:t>Multi-level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64208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4-tier subsystem (working / episodic / semantic / case-based)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945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1945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52.5%   (84/160)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7614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761488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93.8%   (150/160)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328415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328415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6.2%   (10/160)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895344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895344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61.3%   (92/150)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75488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Δ (Multi-level − Single-level)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2120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303520"/>
            <a:ext cx="1188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3035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700" b="1">
                <a:solidFill>
                  <a:srgbClr val="C0392B"/>
                </a:solidFill>
              </a:rPr>
              <a:t>-0.6 pp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37560" y="52120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5303520"/>
            <a:ext cx="1188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53035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700" b="1">
                <a:solidFill>
                  <a:srgbClr val="27AE60"/>
                </a:solidFill>
              </a:rPr>
              <a:t>+1.9 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52120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59" y="5303520"/>
            <a:ext cx="1188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53035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700" b="1">
                <a:solidFill>
                  <a:srgbClr val="27AE60"/>
                </a:solidFill>
              </a:rPr>
              <a:t>-1.9 pp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399" y="52120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98279" y="5303520"/>
            <a:ext cx="1188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Rank-1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59" y="53035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700" b="1">
                <a:solidFill>
                  <a:srgbClr val="27AE60"/>
                </a:solidFill>
              </a:rPr>
              <a:t>+1.4 pp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</a:rPr>
              <a:t>Same 160 UUIDs in both arms — identical patients, prompts, evaluator, and model; only the memory subsystem toggled.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Doctor dashboard — features overview</a:t>
            </a:r>
          </a:p>
          <a:p>
            <a:r>
              <a:rPr sz="1300">
                <a:solidFill>
                  <a:srgbClr val="ECF0F1"/>
                </a:solidFill>
              </a:rPr>
              <a:t>Four features that make the run reviewable</a:t>
            </a:r>
          </a:p>
        </p:txBody>
      </p:sp>
      <p:pic>
        <p:nvPicPr>
          <p:cNvPr id="5" name="Picture 4" descr="doctor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315200" cy="4572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955279" y="1097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199" y="1051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Agent workflow inline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199" y="1417319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Every stage's output one click away, rendered as a doctor-readable narrative.</a:t>
            </a:r>
          </a:p>
        </p:txBody>
      </p:sp>
      <p:sp>
        <p:nvSpPr>
          <p:cNvPr id="9" name="Oval 8"/>
          <p:cNvSpPr/>
          <p:nvPr/>
        </p:nvSpPr>
        <p:spPr>
          <a:xfrm>
            <a:off x="7955279" y="2240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199" y="2194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Similar past cases (Tier-4 recall)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199" y="2560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Top-K neighbours with their evaluator match type; one click switches view.</a:t>
            </a:r>
          </a:p>
        </p:txBody>
      </p:sp>
      <p:sp>
        <p:nvSpPr>
          <p:cNvPr id="12" name="Oval 11"/>
          <p:cNvSpPr/>
          <p:nvPr/>
        </p:nvSpPr>
        <p:spPr>
          <a:xfrm>
            <a:off x="7955279" y="3383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199" y="3337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Treatment safety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3703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Drugs, interactions, contraindications + planner's assumptions &amp; missing-data warnings.</a:t>
            </a:r>
          </a:p>
        </p:txBody>
      </p:sp>
      <p:sp>
        <p:nvSpPr>
          <p:cNvPr id="15" name="Oval 14"/>
          <p:cNvSpPr/>
          <p:nvPr/>
        </p:nvSpPr>
        <p:spPr>
          <a:xfrm>
            <a:off x="7955279" y="4526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4480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Reviewer note +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Three-way verdict, free text, initials → data/gold/annotations/&lt;uuid&gt;.json.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URL-driven state: ?r=&lt;set&gt;&amp;p=&lt;uuid&gt;&amp;a=&lt;agent&gt; makes every view shareable and refresh-safe.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Where CMADS sits against the literature</a:t>
            </a:r>
          </a:p>
          <a:p>
            <a:r>
              <a:rPr sz="1300">
                <a:solidFill>
                  <a:srgbClr val="ECF0F1"/>
                </a:solidFill>
              </a:rPr>
              <a:t>Seven comparators · what they do, their result, and what they leave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AMIE (Tu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Conversational diagnostic AI; OSCE-style consultations.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Beat PCPs on 28/32 specialist axes (149 cases · 20 PCPs).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backbone · no doctor UI · no inspectable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AgentClinic (Schmidgall 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Multimodal benchmark of LLM agents in simulated clinics.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Claude-3.5: 62.1% on AgentClinic-MedQA · PCPs 54%±28.5.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Benchmark of others, not a deployed pipeline · no treatment plan.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4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MedAgents (Tang 2024, ACL)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Multi-agent CoT for zero-shot medical reasoning.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GPT-4: 86.7% avg on 9 MCQ benchmarks (MedQA 83.7%).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patient data · no memory · no 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846319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9203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D35400"/>
                </a:solidFill>
              </a:rPr>
              <a:t>MDTeamGPT (Chen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93791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Self-evolving MDT with CorrectKB + ChainKB.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39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90.1% on MedQA · 83.9% on PubMedQA.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6071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end-to-end pipeline · no clinician interface.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</a:rPr>
              <a:t>TAO (Kim 2025, ICML)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Tiered Agentic Oversight for healthcare safety.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+8.2% on 4/5 safety benchmarks · triage 40% → 60% w/ MDs.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Safety wrapper, not a diagnostic pipeline · no case-based memory.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ClinicalLab (Yan 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Coordinator + Chief Physician across 11 departments.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Within ~5% of senior physicians on 1,500 real cases.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· no published memory subsystem · no doctor UI.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ZODIAC (Zhou 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5-agent cardiology + clinician review.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Cardiologist-level on 7/8 metrics (qualitative).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Single specialty · no memory · no treatment plan · no open backbone.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263640"/>
            <a:ext cx="115214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Comparison is on multiple axes: cohort + headline + what each system leaves out. CMADS fills the union of those gaps.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Gaps I filled</a:t>
            </a:r>
          </a:p>
          <a:p>
            <a:r>
              <a:rPr sz="1300">
                <a:solidFill>
                  <a:srgbClr val="ECF0F1"/>
                </a:solidFill>
              </a:rPr>
              <a:t>Each gap is small. Nobody closes all four in one system — that's the contribution.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1. End-to-end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Synthea → differential → NICE plan → doctor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 (benchmark accuracy only).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6A085"/>
                </a:solidFill>
              </a:rPr>
              <a:t>2. Open-source backbone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GPT-OSS-120B reasoning + Qwen3-32B judge, reproducible.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ClinicalLab, ZODIAC (GPT-4 family).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3. Inspectable 4-tier memory + controlled A/B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Working / Episodic / Semantic / Case-based, with paired 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(memory implicit or absent).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4. Doctor console + persisted verdicts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Agent inspector, similar cases, treatment safety,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(none ship a clinician annotation surface).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42B4A"/>
                </a:solidFill>
              </a:rPr>
              <a:t>The composition is the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