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10972800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>
                <a:solidFill>
                  <a:srgbClr val="142B4A"/>
                </a:solidFill>
              </a:rPr>
              <a:t>CMADS — Multi-Agent Systems for AI Clinical Decisioning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26080"/>
            <a:ext cx="10972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800" b="0">
                <a:solidFill>
                  <a:srgbClr val="34495E"/>
                </a:solidFill>
              </a:rPr>
              <a:t>via Automation Workflows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931920"/>
            <a:ext cx="109728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0">
                <a:solidFill>
                  <a:srgbClr val="16A085"/>
                </a:solidFill>
              </a:rPr>
              <a:t>100-patient multi-level memory results  ·  doctor console  ·  literature 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0">
                <a:solidFill>
                  <a:srgbClr val="7F8C8D"/>
                </a:solidFill>
              </a:rPr>
              <a:t>Abdelrahman Mohamed Amin  ·  Supervisor: Dr. Shereen Moataz Afifi  ·  GUC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What CMADS is</a:t>
            </a:r>
          </a:p>
          <a:p>
            <a:r>
              <a:rPr sz="1300">
                <a:solidFill>
                  <a:srgbClr val="ECF0F1"/>
                </a:solidFill>
              </a:rPr>
              <a:t>7-agent LangGraph pipeline + 4-tier memory subsystem</a:t>
            </a:r>
          </a:p>
        </p:txBody>
      </p:sp>
      <p:pic>
        <p:nvPicPr>
          <p:cNvPr id="5" name="Picture 4" descr="ch3_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7680960" cy="4437888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138160" y="1252728"/>
            <a:ext cx="137160" cy="137160"/>
          </a:xfrm>
          <a:prstGeom prst="ellipse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94192" y="1124712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7 agents on LangGraph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94192" y="1435608"/>
            <a:ext cx="3657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Coordinated by a typed shared state — not custom orchestration.</a:t>
            </a:r>
          </a:p>
        </p:txBody>
      </p:sp>
      <p:sp>
        <p:nvSpPr>
          <p:cNvPr id="9" name="Oval 8"/>
          <p:cNvSpPr/>
          <p:nvPr/>
        </p:nvSpPr>
        <p:spPr>
          <a:xfrm>
            <a:off x="8138160" y="2075688"/>
            <a:ext cx="137160" cy="137160"/>
          </a:xfrm>
          <a:prstGeom prst="ellipse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94192" y="1947672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Stage 1 parallel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94192" y="2258568"/>
            <a:ext cx="3657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EHR Analyst + Lab Interpreter fan out from START.</a:t>
            </a:r>
          </a:p>
        </p:txBody>
      </p:sp>
      <p:sp>
        <p:nvSpPr>
          <p:cNvPr id="12" name="Oval 11"/>
          <p:cNvSpPr/>
          <p:nvPr/>
        </p:nvSpPr>
        <p:spPr>
          <a:xfrm>
            <a:off x="8138160" y="2898648"/>
            <a:ext cx="137160" cy="137160"/>
          </a:xfrm>
          <a:prstGeom prst="ellipse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94192" y="2770632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Adaptive diagnostic loop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94192" y="3081527"/>
            <a:ext cx="3657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Up to 3 rounds with a confidence threshold.</a:t>
            </a:r>
          </a:p>
        </p:txBody>
      </p:sp>
      <p:sp>
        <p:nvSpPr>
          <p:cNvPr id="15" name="Oval 14"/>
          <p:cNvSpPr/>
          <p:nvPr/>
        </p:nvSpPr>
        <p:spPr>
          <a:xfrm>
            <a:off x="8138160" y="3721608"/>
            <a:ext cx="137160" cy="137160"/>
          </a:xfrm>
          <a:prstGeom prst="ellipse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94192" y="3593592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Non-destructive review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94192" y="3904488"/>
            <a:ext cx="3657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Reviewer challenges; Refiner can change the primary diagnosis but the original output stays in the trace.</a:t>
            </a:r>
          </a:p>
        </p:txBody>
      </p:sp>
      <p:sp>
        <p:nvSpPr>
          <p:cNvPr id="18" name="Oval 17"/>
          <p:cNvSpPr/>
          <p:nvPr/>
        </p:nvSpPr>
        <p:spPr>
          <a:xfrm>
            <a:off x="8138160" y="4544568"/>
            <a:ext cx="137160" cy="137160"/>
          </a:xfrm>
          <a:prstGeom prst="ellipse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94192" y="4416552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Gated treatment planning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94192" y="4727448"/>
            <a:ext cx="3657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NICE guidelines via Qdrant — runs on DIRECT matches only.</a:t>
            </a:r>
          </a:p>
        </p:txBody>
      </p:sp>
      <p:sp>
        <p:nvSpPr>
          <p:cNvPr id="21" name="Oval 20"/>
          <p:cNvSpPr/>
          <p:nvPr/>
        </p:nvSpPr>
        <p:spPr>
          <a:xfrm>
            <a:off x="8138160" y="5367528"/>
            <a:ext cx="137160" cy="137160"/>
          </a:xfrm>
          <a:prstGeom prst="ellipse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94192" y="5239512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4-tier memory subsystem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4192" y="5550408"/>
            <a:ext cx="3657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Working · Episodic · Semantic · Case-based (BioLORD-2023 embeddings).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263640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000" b="0">
                <a:solidFill>
                  <a:srgbClr val="7F8C8D"/>
                </a:solidFill>
              </a:rPr>
              <a:t>Stage 1 (parallel) → Diagnostic loop → Reviewer → Refiner → Evaluator → Treatment (DIRECT only) → Memory consolidation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Results — multi-level memory vs single-level baseline</a:t>
            </a:r>
          </a:p>
          <a:p>
            <a:r>
              <a:rPr sz="1300">
                <a:solidFill>
                  <a:srgbClr val="ECF0F1"/>
                </a:solidFill>
              </a:rPr>
              <a:t>Memory ON (n=100, batch_3 + batch_4) vs memory OFF (n=160, mas_results/)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097280"/>
            <a:ext cx="539496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234440"/>
            <a:ext cx="5029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</a:rPr>
              <a:t>Single-level baseline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5029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Memory OFF · 160 patients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103120"/>
            <a:ext cx="24688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34495E"/>
                </a:solidFill>
              </a:rPr>
              <a:t>DIRECT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103120"/>
            <a:ext cx="25603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1F4E79"/>
                </a:solidFill>
              </a:rPr>
              <a:t>73.1%   (117/160)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651760"/>
            <a:ext cx="24688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34495E"/>
                </a:solidFill>
              </a:rPr>
              <a:t>Found (D + I)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651760"/>
            <a:ext cx="25603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1F4E79"/>
                </a:solidFill>
              </a:rPr>
              <a:t>87.5%   (140/160)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3200400"/>
            <a:ext cx="24688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34495E"/>
                </a:solidFill>
              </a:rPr>
              <a:t>MISS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3200400"/>
            <a:ext cx="25603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1F4E79"/>
                </a:solidFill>
              </a:rPr>
              <a:t>12.5%   (20/160)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3749039"/>
            <a:ext cx="24688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34495E"/>
                </a:solidFill>
              </a:rPr>
              <a:t>Rank-1 in found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3749039"/>
            <a:ext cx="25603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1F4E79"/>
                </a:solidFill>
              </a:rPr>
              <a:t>59.3%   (83/140)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097280"/>
            <a:ext cx="539496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35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234440"/>
            <a:ext cx="5029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D35400"/>
                </a:solidFill>
              </a:rPr>
              <a:t>Multi-level memory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1627632"/>
            <a:ext cx="5029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Memory ON · 100 patients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103120"/>
            <a:ext cx="24688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34495E"/>
                </a:solidFill>
              </a:rPr>
              <a:t>DIRECT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2103120"/>
            <a:ext cx="25603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D35400"/>
                </a:solidFill>
              </a:rPr>
              <a:t>49.0%   (49/100)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651760"/>
            <a:ext cx="24688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34495E"/>
                </a:solidFill>
              </a:rPr>
              <a:t>Found (D + I)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2651760"/>
            <a:ext cx="25603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D35400"/>
                </a:solidFill>
              </a:rPr>
              <a:t>95.0%   (95/100)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200400"/>
            <a:ext cx="24688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34495E"/>
                </a:solidFill>
              </a:rPr>
              <a:t>MISS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0" y="3200400"/>
            <a:ext cx="25603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D35400"/>
                </a:solidFill>
              </a:rPr>
              <a:t>5.0%   (5/100)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749039"/>
            <a:ext cx="24688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34495E"/>
                </a:solidFill>
              </a:rPr>
              <a:t>Rank-1 in found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3749039"/>
            <a:ext cx="25603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D35400"/>
                </a:solidFill>
              </a:rPr>
              <a:t>65.3%   (62/95)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572000"/>
            <a:ext cx="11064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34495E"/>
                </a:solidFill>
              </a:rPr>
              <a:t>Δ (Multi-level − Single-level)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029200"/>
            <a:ext cx="356616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5120640"/>
            <a:ext cx="13716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34495E"/>
                </a:solidFill>
              </a:rPr>
              <a:t>DIRECT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20" y="5120640"/>
            <a:ext cx="1920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800" b="1">
                <a:solidFill>
                  <a:srgbClr val="C0392B"/>
                </a:solidFill>
              </a:rPr>
              <a:t>-24.1 pp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79" y="5029200"/>
            <a:ext cx="356616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80559" y="5120640"/>
            <a:ext cx="13716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34495E"/>
                </a:solidFill>
              </a:rPr>
              <a:t>Found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59" y="5120640"/>
            <a:ext cx="1920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800" b="1">
                <a:solidFill>
                  <a:srgbClr val="27AE60"/>
                </a:solidFill>
              </a:rPr>
              <a:t>+7.5 pp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46719" y="5029200"/>
            <a:ext cx="356616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599" y="5120640"/>
            <a:ext cx="13716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34495E"/>
                </a:solidFill>
              </a:rPr>
              <a:t>MISS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199" y="5120640"/>
            <a:ext cx="1920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800" b="1">
                <a:solidFill>
                  <a:srgbClr val="27AE60"/>
                </a:solidFill>
              </a:rPr>
              <a:t>-7.5 pp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5943600"/>
            <a:ext cx="1106424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Memory broadens recall (Found +7.5 pp, MISS −6.7 pp) but shifts confirmed matches into the related-but-not-exact bucket (DIRECT −24.1 pp). Different patient subsets per arm — comparison is descriptive, not a paired test.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Doctor dashboard — features overview</a:t>
            </a:r>
          </a:p>
          <a:p>
            <a:r>
              <a:rPr sz="1300">
                <a:solidFill>
                  <a:srgbClr val="ECF0F1"/>
                </a:solidFill>
              </a:rPr>
              <a:t>Four features that make the run reviewable</a:t>
            </a:r>
          </a:p>
        </p:txBody>
      </p:sp>
      <p:pic>
        <p:nvPicPr>
          <p:cNvPr id="5" name="Picture 4" descr="doctor_cons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7315200" cy="45720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7955279" y="1097280"/>
            <a:ext cx="411480" cy="411480"/>
          </a:xfrm>
          <a:prstGeom prst="ellipse">
            <a:avLst/>
          </a:prstGeom>
          <a:solidFill>
            <a:srgbClr val="D3540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58199" y="1051560"/>
            <a:ext cx="38404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Agent workflow inline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199" y="1417319"/>
            <a:ext cx="384048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Every stage's output one click away, rendered as a doctor-readable narrative.</a:t>
            </a:r>
          </a:p>
        </p:txBody>
      </p:sp>
      <p:sp>
        <p:nvSpPr>
          <p:cNvPr id="9" name="Oval 8"/>
          <p:cNvSpPr/>
          <p:nvPr/>
        </p:nvSpPr>
        <p:spPr>
          <a:xfrm>
            <a:off x="7955279" y="2240280"/>
            <a:ext cx="411480" cy="411480"/>
          </a:xfrm>
          <a:prstGeom prst="ellipse">
            <a:avLst/>
          </a:prstGeom>
          <a:solidFill>
            <a:srgbClr val="D3540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199" y="2194560"/>
            <a:ext cx="38404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Similar past cases (Tier-4 recall)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199" y="2560320"/>
            <a:ext cx="384048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Top-K neighbours with their evaluator match type; one click switches view.</a:t>
            </a:r>
          </a:p>
        </p:txBody>
      </p:sp>
      <p:sp>
        <p:nvSpPr>
          <p:cNvPr id="12" name="Oval 11"/>
          <p:cNvSpPr/>
          <p:nvPr/>
        </p:nvSpPr>
        <p:spPr>
          <a:xfrm>
            <a:off x="7955279" y="3383280"/>
            <a:ext cx="411480" cy="411480"/>
          </a:xfrm>
          <a:prstGeom prst="ellipse">
            <a:avLst/>
          </a:prstGeom>
          <a:solidFill>
            <a:srgbClr val="D3540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199" y="3337560"/>
            <a:ext cx="38404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Treatment safety panel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58199" y="3703320"/>
            <a:ext cx="384048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Drugs, interactions, contraindications + planner's assumptions &amp; missing-data warnings.</a:t>
            </a:r>
          </a:p>
        </p:txBody>
      </p:sp>
      <p:sp>
        <p:nvSpPr>
          <p:cNvPr id="15" name="Oval 14"/>
          <p:cNvSpPr/>
          <p:nvPr/>
        </p:nvSpPr>
        <p:spPr>
          <a:xfrm>
            <a:off x="7955279" y="4526280"/>
            <a:ext cx="411480" cy="411480"/>
          </a:xfrm>
          <a:prstGeom prst="ellipse">
            <a:avLst/>
          </a:prstGeom>
          <a:solidFill>
            <a:srgbClr val="D3540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199" y="4480560"/>
            <a:ext cx="38404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Reviewer note + persistence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199" y="4846320"/>
            <a:ext cx="384048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Three-way verdict, free text, initials → data/gold/annotations/&lt;uuid&gt;.json.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263640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000" b="0">
                <a:solidFill>
                  <a:srgbClr val="7F8C8D"/>
                </a:solidFill>
              </a:rPr>
              <a:t>URL-driven state: ?r=&lt;set&gt;&amp;p=&lt;uuid&gt;&amp;a=&lt;agent&gt; makes every view shareable and refresh-safe.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Where CMADS sits against the literature</a:t>
            </a:r>
          </a:p>
          <a:p>
            <a:r>
              <a:rPr sz="1300">
                <a:solidFill>
                  <a:srgbClr val="ECF0F1"/>
                </a:solidFill>
              </a:rPr>
              <a:t>Seven comparators · what they do, their result, and what they leave out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1005840"/>
            <a:ext cx="5623560" cy="118871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51560"/>
            <a:ext cx="539496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F4E79"/>
                </a:solidFill>
              </a:rPr>
              <a:t>AMIE (Tu 2024)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34495E"/>
                </a:solidFill>
              </a:rPr>
              <a:t>Conversational diagnostic AI; OSCE-style consultations.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4592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1">
                <a:solidFill>
                  <a:srgbClr val="34495E"/>
                </a:solidFill>
              </a:rPr>
              <a:t>Result: Beat PCPs on 28/32 specialist axes (149 cases · 20 PCPs).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2024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C0392B"/>
                </a:solidFill>
              </a:rPr>
              <a:t>Missing: Closed-source backbone · no doctor UI · no inspectable memory.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2286000"/>
            <a:ext cx="5623560" cy="118871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331720"/>
            <a:ext cx="539496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6A085"/>
                </a:solidFill>
              </a:rPr>
              <a:t>AgentClinic (Schmidgall 2024)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633472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34495E"/>
                </a:solidFill>
              </a:rPr>
              <a:t>Multimodal benchmark of LLM agents in simulated clinics.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92608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1">
                <a:solidFill>
                  <a:srgbClr val="34495E"/>
                </a:solidFill>
              </a:rPr>
              <a:t>Result: Claude-3.5: 62.1% on AgentClinic-MedQA · PCPs 54%±28.5.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0040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C0392B"/>
                </a:solidFill>
              </a:rPr>
              <a:t>Missing: Benchmark of others, not a deployed pipeline · no treatment plan.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3566160"/>
            <a:ext cx="5623560" cy="118871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42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611879"/>
            <a:ext cx="539496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MedAgents (Tang 2024, ACL)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913632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34495E"/>
                </a:solidFill>
              </a:rPr>
              <a:t>Multi-agent CoT for zero-shot medical reasoning.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20624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1">
                <a:solidFill>
                  <a:srgbClr val="34495E"/>
                </a:solidFill>
              </a:rPr>
              <a:t>Result: GPT-4: 86.7% avg on 9 MCQ benchmarks (MedQA 83.7%).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48056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C0392B"/>
                </a:solidFill>
              </a:rPr>
              <a:t>Missing: MCQ-only · no patient data · no memory · no UI.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" y="4846319"/>
            <a:ext cx="5623560" cy="118871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35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892039"/>
            <a:ext cx="539496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D35400"/>
                </a:solidFill>
              </a:rPr>
              <a:t>MDTeamGPT (Chen 2025)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193791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34495E"/>
                </a:solidFill>
              </a:rPr>
              <a:t>Self-evolving MDT with CorrectKB + ChainKB.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486399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1">
                <a:solidFill>
                  <a:srgbClr val="34495E"/>
                </a:solidFill>
              </a:rPr>
              <a:t>Result: 90.1% on MedQA · 83.9% on PubMedQA.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760719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C0392B"/>
                </a:solidFill>
              </a:rPr>
              <a:t>Missing: MCQ-only · no end-to-end pipeline · no clinician interface.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1005840"/>
            <a:ext cx="5623560" cy="118871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1051560"/>
            <a:ext cx="539496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27AE60"/>
                </a:solidFill>
              </a:rPr>
              <a:t>TAO (Kim 2025, ICML)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353312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34495E"/>
                </a:solidFill>
              </a:rPr>
              <a:t>Tiered Agentic Oversight for healthcare safety.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164592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1">
                <a:solidFill>
                  <a:srgbClr val="34495E"/>
                </a:solidFill>
              </a:rPr>
              <a:t>Result: +8.2% on 4/5 safety benchmarks · triage 40% → 60% w/ MDs.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192024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C0392B"/>
                </a:solidFill>
              </a:rPr>
              <a:t>Missing: Safety wrapper, not a diagnostic pipeline · no case-based memory.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2286000"/>
            <a:ext cx="5623560" cy="118871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2331720"/>
            <a:ext cx="539496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F4E79"/>
                </a:solidFill>
              </a:rPr>
              <a:t>ClinicalLab (Yan 2024)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2633472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34495E"/>
                </a:solidFill>
              </a:rPr>
              <a:t>Coordinator + Chief Physician across 11 departments.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292608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1">
                <a:solidFill>
                  <a:srgbClr val="34495E"/>
                </a:solidFill>
              </a:rPr>
              <a:t>Result: Within ~5% of senior physicians on 1,500 real cases.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320040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C0392B"/>
                </a:solidFill>
              </a:rPr>
              <a:t>Missing: Closed-source · no published memory subsystem · no doctor UI.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63640" y="3566160"/>
            <a:ext cx="5623560" cy="118871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3611879"/>
            <a:ext cx="539496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6A085"/>
                </a:solidFill>
              </a:rPr>
              <a:t>ZODIAC (Zhou 2024)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3913632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34495E"/>
                </a:solidFill>
              </a:rPr>
              <a:t>5-agent cardiology + clinician review.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420624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1">
                <a:solidFill>
                  <a:srgbClr val="34495E"/>
                </a:solidFill>
              </a:rPr>
              <a:t>Result: Cardiologist-level on 7/8 metrics (qualitative).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48056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C0392B"/>
                </a:solidFill>
              </a:rPr>
              <a:t>Missing: Single specialty · no memory · no treatment plan · no open backbone.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040" y="6263640"/>
            <a:ext cx="115214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000" b="0">
                <a:solidFill>
                  <a:srgbClr val="7F8C8D"/>
                </a:solidFill>
              </a:rPr>
              <a:t>Comparison is on multiple axes: cohort + headline + what each system leaves out. CMADS fills the union of those gaps.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Gaps I filled</a:t>
            </a:r>
          </a:p>
          <a:p>
            <a:r>
              <a:rPr sz="1300">
                <a:solidFill>
                  <a:srgbClr val="ECF0F1"/>
                </a:solidFill>
              </a:rPr>
              <a:t>Each gap is small. Nobody closes all four in one system — that's the contribution.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5394960" cy="2377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25880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</a:rPr>
              <a:t>1. End-to-end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65960"/>
            <a:ext cx="512064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34495E"/>
                </a:solidFill>
              </a:rPr>
              <a:t>Synthea → differential → NICE plan → doctor review.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880360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vs MDAgents, ClinicalLab (benchmark accuracy only).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188720"/>
            <a:ext cx="5394960" cy="2377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325880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16A085"/>
                </a:solidFill>
              </a:rPr>
              <a:t>2. Open-source backbone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965960"/>
            <a:ext cx="512064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34495E"/>
                </a:solidFill>
              </a:rPr>
              <a:t>GPT-OSS-120B reasoning + Qwen3-32B judge, reproducible.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880360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vs MDAgents, ClinicalLab, ZODIAC (GPT-4 family).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749039"/>
            <a:ext cx="5394960" cy="2377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35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886200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D35400"/>
                </a:solidFill>
              </a:rPr>
              <a:t>3. Inspectable 4-tier memory + controlled A/B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526279"/>
            <a:ext cx="512064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34495E"/>
                </a:solidFill>
              </a:rPr>
              <a:t>Working / Episodic / Semantic / Case-based, with paired test.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440679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vs all five (memory implicit or absent).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749039"/>
            <a:ext cx="5394960" cy="2377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3886200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27AE60"/>
                </a:solidFill>
              </a:rPr>
              <a:t>4. Doctor console + persisted verdicts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526279"/>
            <a:ext cx="512064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34495E"/>
                </a:solidFill>
              </a:rPr>
              <a:t>Agent inspector, similar cases, treatment safety, annotation.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5440679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vs all five (none ship a clinician annotation surface).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263640"/>
            <a:ext cx="110642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1">
                <a:solidFill>
                  <a:srgbClr val="142B4A"/>
                </a:solidFill>
              </a:rPr>
              <a:t>The composition is the contribution.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